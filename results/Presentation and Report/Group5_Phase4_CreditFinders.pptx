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ranklin Gothic" panose="020B0604020202020204" charset="0"/>
      <p:bold r:id="rId14"/>
    </p:embeddedFont>
    <p:embeddedFont>
      <p:font typeface="Lobster" panose="020F0502020204030204" pitchFamily="2" charset="0"/>
      <p:regular r:id="rId15"/>
    </p:embeddedFont>
    <p:embeddedFont>
      <p:font typeface="Palatino Linotype" panose="0204050205050503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DQhiyHK+61bFumZSaIbM1EnLp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ev Govindan" userId="b54557c17439fdf4" providerId="LiveId" clId="{C328B72F-93C5-498C-8438-7302D02B1079}"/>
    <pc:docChg chg="modSld">
      <pc:chgData name="Rajeev Govindan" userId="b54557c17439fdf4" providerId="LiveId" clId="{C328B72F-93C5-498C-8438-7302D02B1079}" dt="2025-04-30T00:37:27.108" v="0" actId="20577"/>
      <pc:docMkLst>
        <pc:docMk/>
      </pc:docMkLst>
      <pc:sldChg chg="modSp mod">
        <pc:chgData name="Rajeev Govindan" userId="b54557c17439fdf4" providerId="LiveId" clId="{C328B72F-93C5-498C-8438-7302D02B1079}" dt="2025-04-30T00:37:27.108" v="0" actId="20577"/>
        <pc:sldMkLst>
          <pc:docMk/>
          <pc:sldMk cId="0" sldId="261"/>
        </pc:sldMkLst>
        <pc:spChg chg="mod">
          <ac:chgData name="Rajeev Govindan" userId="b54557c17439fdf4" providerId="LiveId" clId="{C328B72F-93C5-498C-8438-7302D02B1079}" dt="2025-04-30T00:37:27.108" v="0" actId="20577"/>
          <ac:spMkLst>
            <pc:docMk/>
            <pc:sldMk cId="0" sldId="261"/>
            <ac:spMk id="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5" name="Google Shape;10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6" name="Google Shape;106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16e8613c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516e8613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e085415e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4e085415e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4e085415e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e339e6a12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4e339e6a12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16e8613c4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16e8613c4_2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516e8613c4_2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1a270af9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51a270af9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f096a47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4f096a47b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4f096a47b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page">
  <p:cSld name="3_Title page">
    <p:bg>
      <p:bgPr>
        <a:solidFill>
          <a:srgbClr val="262626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70538" y="3690944"/>
            <a:ext cx="10312295" cy="148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5333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707592" y="3260726"/>
            <a:ext cx="10312296" cy="33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None/>
              <a:defRPr sz="2400" b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1685" y="-47867"/>
            <a:ext cx="4059936" cy="152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9993" y="538188"/>
            <a:ext cx="3266113" cy="13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photo: white">
  <p:cSld name="Content and photo: whit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-69516" y="-21389"/>
            <a:ext cx="12331032" cy="836701"/>
          </a:xfrm>
          <a:prstGeom prst="rect">
            <a:avLst/>
          </a:prstGeom>
          <a:solidFill>
            <a:srgbClr val="690304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452702" y="1283975"/>
            <a:ext cx="5326692" cy="103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1"/>
              </a:buClr>
              <a:buSzPts val="3000"/>
              <a:buFont typeface="Arial"/>
              <a:buNone/>
              <a:defRPr sz="4000" b="1" i="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454485" y="2675466"/>
            <a:ext cx="5326692" cy="335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404041"/>
              </a:buClr>
              <a:buSzPts val="1800"/>
              <a:buFont typeface="Arial"/>
              <a:buChar char="•"/>
              <a:defRPr sz="2400">
                <a:solidFill>
                  <a:srgbClr val="4040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>
            <a:spLocks noGrp="1"/>
          </p:cNvSpPr>
          <p:nvPr>
            <p:ph type="pic" idx="2"/>
          </p:nvPr>
        </p:nvSpPr>
        <p:spPr>
          <a:xfrm>
            <a:off x="7419880" y="1283975"/>
            <a:ext cx="4386227" cy="4759365"/>
          </a:xfrm>
          <a:prstGeom prst="rect">
            <a:avLst/>
          </a:prstGeom>
          <a:noFill/>
          <a:ln>
            <a:noFill/>
          </a:ln>
        </p:spPr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39993" y="538188"/>
            <a:ext cx="3266113" cy="13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10" y="-596391"/>
            <a:ext cx="876505" cy="176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" descr=" "/>
          <p:cNvSpPr txBox="1"/>
          <p:nvPr/>
        </p:nvSpPr>
        <p:spPr>
          <a:xfrm>
            <a:off x="0" y="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 descr=" "/>
          <p:cNvSpPr txBox="1"/>
          <p:nvPr/>
        </p:nvSpPr>
        <p:spPr>
          <a:xfrm>
            <a:off x="0" y="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 descr=" "/>
          <p:cNvSpPr txBox="1"/>
          <p:nvPr/>
        </p:nvSpPr>
        <p:spPr>
          <a:xfrm>
            <a:off x="0" y="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 descr=" 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 descr=" 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 descr=" 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title"/>
          </p:nvPr>
        </p:nvSpPr>
        <p:spPr>
          <a:xfrm>
            <a:off x="515891" y="2686004"/>
            <a:ext cx="11521463" cy="148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/>
              <a:t>High Credit Default Risk (HCDR)</a:t>
            </a:r>
            <a:endParaRPr sz="4000"/>
          </a:p>
        </p:txBody>
      </p:sp>
      <p:sp>
        <p:nvSpPr>
          <p:cNvPr id="109" name="Google Shape;109;p1"/>
          <p:cNvSpPr txBox="1">
            <a:spLocks noGrp="1"/>
          </p:cNvSpPr>
          <p:nvPr>
            <p:ph type="body" idx="1"/>
          </p:nvPr>
        </p:nvSpPr>
        <p:spPr>
          <a:xfrm>
            <a:off x="3220826" y="2404525"/>
            <a:ext cx="5426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None/>
            </a:pPr>
            <a:r>
              <a:rPr lang="en-US"/>
              <a:t>SP25 Applied Machine Learning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7761817" y="4605260"/>
            <a:ext cx="4561200" cy="11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2820026" y="4022625"/>
            <a:ext cx="7122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PyTorch Deep Learning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 Project Group 5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929511" y="240453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endParaRPr sz="1067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236750" y="4246800"/>
            <a:ext cx="33213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Junyeon Lee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Priyanka Prem Kumar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Simi Rajeev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ranklin Gothic"/>
              <a:buChar char="➢"/>
            </a:pPr>
            <a:r>
              <a:rPr lang="en-US" sz="1900" b="0" i="0" u="none" strike="noStrike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Sumedh Ambapkar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886075" y="1168450"/>
            <a:ext cx="42234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/>
              <a:t>Team Credit Finders</a:t>
            </a:r>
            <a:endParaRPr sz="2400"/>
          </a:p>
        </p:txBody>
      </p:sp>
      <p:sp>
        <p:nvSpPr>
          <p:cNvPr id="119" name="Google Shape;119;p3"/>
          <p:cNvSpPr txBox="1"/>
          <p:nvPr/>
        </p:nvSpPr>
        <p:spPr>
          <a:xfrm>
            <a:off x="886075" y="2002375"/>
            <a:ext cx="4836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120" name="Google Shape;120;p3" title="Group_Pi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350" y="1943250"/>
            <a:ext cx="7976673" cy="44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6e8613c4_0_0"/>
          <p:cNvSpPr txBox="1">
            <a:spLocks noGrp="1"/>
          </p:cNvSpPr>
          <p:nvPr>
            <p:ph type="title"/>
          </p:nvPr>
        </p:nvSpPr>
        <p:spPr>
          <a:xfrm>
            <a:off x="886075" y="1168450"/>
            <a:ext cx="42234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Project Description</a:t>
            </a:r>
            <a:endParaRPr sz="2400"/>
          </a:p>
        </p:txBody>
      </p:sp>
      <p:pic>
        <p:nvPicPr>
          <p:cNvPr id="126" name="Google Shape;126;g3516e8613c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425" y="2058025"/>
            <a:ext cx="8573801" cy="165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516e8613c4_0_0"/>
          <p:cNvSpPr txBox="1"/>
          <p:nvPr/>
        </p:nvSpPr>
        <p:spPr>
          <a:xfrm>
            <a:off x="886075" y="3820475"/>
            <a:ext cx="10126200" cy="26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Home Credit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 strives to broaden financial inclusion for the </a:t>
            </a: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unbanked population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 by providing a positive and safe borrowing experience. To ensure this underserved population has a positive loan experience, Home Credit utilizes a variety of alternative data—including telco and transactional information—to </a:t>
            </a: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predict clients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' repayment abilities using various </a:t>
            </a:r>
            <a:r>
              <a:rPr lang="en-US" sz="1500" b="1">
                <a:solidFill>
                  <a:srgbClr val="424242"/>
                </a:solidFill>
                <a:highlight>
                  <a:srgbClr val="FAFAFA"/>
                </a:highlight>
              </a:rPr>
              <a:t>statistical, machine learning and deep learning</a:t>
            </a:r>
            <a:r>
              <a:rPr lang="en-US" sz="1500">
                <a:solidFill>
                  <a:srgbClr val="424242"/>
                </a:solidFill>
                <a:highlight>
                  <a:srgbClr val="FAFAFA"/>
                </a:highlight>
              </a:rPr>
              <a:t> methods.</a:t>
            </a:r>
            <a:endParaRPr sz="1500">
              <a:solidFill>
                <a:srgbClr val="424242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307,511 records on training data with Target Feature and 6 of second tier and third tier datasets having a primary key to join on the primary table.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Datasets: application_{train|test}, bureau, bureau_balance, POS_CASH_balance, credit_card_balance, previous_application, installments_payments, HomeCredit_columns_description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e085415e8_0_7"/>
          <p:cNvSpPr txBox="1"/>
          <p:nvPr/>
        </p:nvSpPr>
        <p:spPr>
          <a:xfrm>
            <a:off x="1233950" y="1832750"/>
            <a:ext cx="10698600" cy="48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Detected skewed and imbalanced data, so we decided to apply a log scale to handle this situation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Detected highly inter-correlated features, indicating a potential need for dimensionality reduction or regularization.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Detected the target data is skewed and imbalanced, so we decided to balance it to improve model performance.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g34e085415e8_0_7"/>
          <p:cNvSpPr txBox="1">
            <a:spLocks noGrp="1"/>
          </p:cNvSpPr>
          <p:nvPr>
            <p:ph type="title"/>
          </p:nvPr>
        </p:nvSpPr>
        <p:spPr>
          <a:xfrm>
            <a:off x="1233950" y="808125"/>
            <a:ext cx="100581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EDA</a:t>
            </a:r>
            <a:endParaRPr sz="2400"/>
          </a:p>
        </p:txBody>
      </p:sp>
      <p:pic>
        <p:nvPicPr>
          <p:cNvPr id="135" name="Google Shape;135;g34e085415e8_0_7"/>
          <p:cNvPicPr preferRelativeResize="0"/>
          <p:nvPr/>
        </p:nvPicPr>
        <p:blipFill rotWithShape="1">
          <a:blip r:embed="rId3">
            <a:alphaModFix/>
          </a:blip>
          <a:srcRect l="-2092" t="32759"/>
          <a:stretch/>
        </p:blipFill>
        <p:spPr>
          <a:xfrm>
            <a:off x="6428225" y="3647100"/>
            <a:ext cx="5252601" cy="22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4e085415e8_0_7"/>
          <p:cNvPicPr preferRelativeResize="0"/>
          <p:nvPr/>
        </p:nvPicPr>
        <p:blipFill rotWithShape="1">
          <a:blip r:embed="rId4">
            <a:alphaModFix/>
          </a:blip>
          <a:srcRect l="4896" t="30600" r="45590" b="9031"/>
          <a:stretch/>
        </p:blipFill>
        <p:spPr>
          <a:xfrm>
            <a:off x="1386370" y="3647100"/>
            <a:ext cx="4838375" cy="22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e339e6a12_1_7"/>
          <p:cNvSpPr txBox="1">
            <a:spLocks noGrp="1"/>
          </p:cNvSpPr>
          <p:nvPr>
            <p:ph type="title"/>
          </p:nvPr>
        </p:nvSpPr>
        <p:spPr>
          <a:xfrm>
            <a:off x="1233950" y="808125"/>
            <a:ext cx="100581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Feature Engineering, Transformation, Selection and Pre-processing</a:t>
            </a:r>
            <a:endParaRPr sz="2400"/>
          </a:p>
        </p:txBody>
      </p:sp>
      <p:sp>
        <p:nvSpPr>
          <p:cNvPr id="142" name="Google Shape;142;g34e339e6a12_1_7"/>
          <p:cNvSpPr txBox="1"/>
          <p:nvPr/>
        </p:nvSpPr>
        <p:spPr>
          <a:xfrm>
            <a:off x="1233950" y="1409825"/>
            <a:ext cx="10698600" cy="53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Identified numerical and categorical attributes (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num_attribs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cat_attribs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selected features for downstream pipeline processing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Transformation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Numerical Pipeline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numeric features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DataFrameSelector,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Imputed missing values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SimpleImputer(strategy='mean'),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Scaled values with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StandardScaler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normalization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Categorical Pipeline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categorical features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DataFrameSelector,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Imputed missing values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SimpleImputer(strategy='most_frequent'),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OneHotEncoder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handle_unknown="ignore"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handle unseen categories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pipelines using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FeatureUnion</a:t>
            </a:r>
            <a:b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selected features: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Total: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{len(selected_features)},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➤ Numeric: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{len(num_attribs)},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➤ Categorical: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{len(cat_attribs)}</a:t>
            </a: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Pre-processing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and reusable pipelines using Scikit-learn's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FeatureUnion</a:t>
            </a:r>
            <a:br>
              <a:rPr lang="en-US" sz="1200" b="0" i="0" u="none" strike="noStrike" cap="non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consistent data preparation for training, validation, and testing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1233950" y="946075"/>
            <a:ext cx="7187674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Modeling Pipeline</a:t>
            </a:r>
            <a:endParaRPr sz="2400"/>
          </a:p>
        </p:txBody>
      </p:sp>
      <p:sp>
        <p:nvSpPr>
          <p:cNvPr id="148" name="Google Shape;148;p22"/>
          <p:cNvSpPr txBox="1"/>
          <p:nvPr/>
        </p:nvSpPr>
        <p:spPr>
          <a:xfrm>
            <a:off x="1233950" y="1665375"/>
            <a:ext cx="10475400" cy="50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Experimental Setup:</a:t>
            </a:r>
            <a:r>
              <a:rPr lang="en-US" sz="1200" dirty="0">
                <a:solidFill>
                  <a:schemeClr val="dk1"/>
                </a:solidFill>
              </a:rPr>
              <a:t> Feature selection (RFE, PCA, Variance Threshold, </a:t>
            </a:r>
            <a:r>
              <a:rPr lang="en-US" sz="1200" dirty="0" err="1">
                <a:solidFill>
                  <a:schemeClr val="dk1"/>
                </a:solidFill>
              </a:rPr>
              <a:t>SelectKBest</a:t>
            </a:r>
            <a:r>
              <a:rPr lang="en-US" sz="1200" dirty="0">
                <a:solidFill>
                  <a:schemeClr val="dk1"/>
                </a:solidFill>
              </a:rPr>
              <a:t>) applied on 132 features to maximize ROC AUC.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Top Model: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XGBoost</a:t>
            </a:r>
            <a:r>
              <a:rPr lang="en-US" sz="1200" dirty="0">
                <a:solidFill>
                  <a:schemeClr val="dk1"/>
                </a:solidFill>
              </a:rPr>
              <a:t> + </a:t>
            </a:r>
            <a:r>
              <a:rPr lang="en-US" sz="1200" dirty="0" err="1">
                <a:solidFill>
                  <a:schemeClr val="dk1"/>
                </a:solidFill>
              </a:rPr>
              <a:t>SelectKBest</a:t>
            </a:r>
            <a:r>
              <a:rPr lang="en-US" sz="1200" dirty="0">
                <a:solidFill>
                  <a:schemeClr val="dk1"/>
                </a:solidFill>
              </a:rPr>
              <a:t> achieved highest Test ROC AUC of 74.7%.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Logistic Regression:</a:t>
            </a:r>
            <a:r>
              <a:rPr lang="en-US" sz="1200" dirty="0">
                <a:solidFill>
                  <a:schemeClr val="dk1"/>
                </a:solidFill>
              </a:rPr>
              <a:t> Variance Threshold method; Test ROC AUC 75.22%; strong baseline, very close to </a:t>
            </a:r>
            <a:r>
              <a:rPr lang="en-US" sz="1200" dirty="0" err="1">
                <a:solidFill>
                  <a:schemeClr val="dk1"/>
                </a:solidFill>
              </a:rPr>
              <a:t>XGBoost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Deep Learning Models:</a:t>
            </a:r>
            <a:r>
              <a:rPr lang="en-US" sz="1200" dirty="0">
                <a:solidFill>
                  <a:schemeClr val="dk1"/>
                </a:solidFill>
              </a:rPr>
              <a:t> Simple Network ROC AUC 74.6%, Multilayer Network ROC AUC 59.38%; simple model performed better.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Model Comparison: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dirty="0" err="1">
                <a:solidFill>
                  <a:schemeClr val="dk1"/>
                </a:solidFill>
              </a:rPr>
              <a:t>XGBoost</a:t>
            </a:r>
            <a:r>
              <a:rPr lang="en-US" sz="1200" dirty="0">
                <a:solidFill>
                  <a:schemeClr val="dk1"/>
                </a:solidFill>
              </a:rPr>
              <a:t> (</a:t>
            </a:r>
            <a:r>
              <a:rPr lang="en-US" sz="1200" dirty="0" err="1">
                <a:solidFill>
                  <a:schemeClr val="dk1"/>
                </a:solidFill>
              </a:rPr>
              <a:t>SelectKBest</a:t>
            </a:r>
            <a:r>
              <a:rPr lang="en-US" sz="1200" dirty="0">
                <a:solidFill>
                  <a:schemeClr val="dk1"/>
                </a:solidFill>
              </a:rPr>
              <a:t>): 74.7% ROC AUC (Best)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Logistic Regression (Variance Threshold): 75.22% ROC AUC (Strong baseline)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Random Forest (Variance Threshold): 72.43% ROC AUC (Decent but behind </a:t>
            </a:r>
            <a:r>
              <a:rPr lang="en-US" sz="1200" dirty="0" err="1">
                <a:solidFill>
                  <a:schemeClr val="dk1"/>
                </a:solidFill>
              </a:rPr>
              <a:t>XGBoost</a:t>
            </a:r>
            <a:r>
              <a:rPr lang="en-US" sz="1200" dirty="0">
                <a:solidFill>
                  <a:schemeClr val="dk1"/>
                </a:solidFill>
              </a:rPr>
              <a:t>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dirty="0" err="1">
                <a:solidFill>
                  <a:schemeClr val="dk1"/>
                </a:solidFill>
              </a:rPr>
              <a:t>LightGBM</a:t>
            </a:r>
            <a:r>
              <a:rPr lang="en-US" sz="1200" dirty="0">
                <a:solidFill>
                  <a:schemeClr val="dk1"/>
                </a:solidFill>
              </a:rPr>
              <a:t> (RFE/Variance Threshold): 72.2% ROC AUC (Fast but slightly lower)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Gradient Boosting: 72.12% ROC AUC (Lower than baseline)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SVM: 67.21% ROC AUC (Lowest, dropped early)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Key Takeaways: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XGBoost</a:t>
            </a:r>
            <a:r>
              <a:rPr lang="en-US" sz="1200" dirty="0">
                <a:solidFill>
                  <a:schemeClr val="dk1"/>
                </a:solidFill>
              </a:rPr>
              <a:t> best overall; Simple Neural Network competitive but tree-based models superior; Logistic Regression remained a strong fallback.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 dirty="0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1233950" y="946075"/>
            <a:ext cx="81861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/>
              <a:t>Experimental Results for ML -Ensemble of Models</a:t>
            </a:r>
            <a:endParaRPr sz="2400"/>
          </a:p>
        </p:txBody>
      </p:sp>
      <p:sp>
        <p:nvSpPr>
          <p:cNvPr id="154" name="Google Shape;154;p23"/>
          <p:cNvSpPr txBox="1"/>
          <p:nvPr/>
        </p:nvSpPr>
        <p:spPr>
          <a:xfrm>
            <a:off x="1233950" y="1665375"/>
            <a:ext cx="10475450" cy="504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 title="Screenshot 2025-04-28 at 8.25.3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75" y="1584900"/>
            <a:ext cx="12103127" cy="438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16e8613c4_2_3"/>
          <p:cNvSpPr txBox="1">
            <a:spLocks noGrp="1"/>
          </p:cNvSpPr>
          <p:nvPr>
            <p:ph type="title"/>
          </p:nvPr>
        </p:nvSpPr>
        <p:spPr>
          <a:xfrm>
            <a:off x="1295048" y="751875"/>
            <a:ext cx="9893400" cy="1039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for Deep Learning </a:t>
            </a:r>
            <a:endParaRPr sz="2400"/>
          </a:p>
        </p:txBody>
      </p:sp>
      <p:sp>
        <p:nvSpPr>
          <p:cNvPr id="162" name="Google Shape;162;g3516e8613c4_2_3"/>
          <p:cNvSpPr txBox="1">
            <a:spLocks noGrp="1"/>
          </p:cNvSpPr>
          <p:nvPr>
            <p:ph type="body" idx="1"/>
          </p:nvPr>
        </p:nvSpPr>
        <p:spPr>
          <a:xfrm>
            <a:off x="187600" y="1659975"/>
            <a:ext cx="11686800" cy="429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/>
              <a:t>Simple Neural Networks </a:t>
            </a:r>
            <a:endParaRPr sz="2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2823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 sz="1782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45720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Deep Learning Models Simple Network Testing Accuracy: 93.08% ROC AUC Score: 74.61%</a:t>
            </a:r>
            <a:endParaRPr sz="2500"/>
          </a:p>
          <a:p>
            <a:pPr marL="45720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Outperformed multilayer deep learning, closely competing with XGBoost and Logistic Regression.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/>
              <a:t>Multilayer Neural Networks</a:t>
            </a:r>
            <a:endParaRPr sz="2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82"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2"/>
          </a:p>
          <a:p>
            <a:pPr marL="457200" marR="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Multilayer Network Testing Accuracy: 91.20% ROC AUC Score: 59.38% </a:t>
            </a:r>
            <a:endParaRPr sz="2500"/>
          </a:p>
          <a:p>
            <a:pPr marL="457200" marR="0" lvl="0" indent="-3040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500"/>
              <a:t>Significant drop in ROC, suggesting overfitting or network complexity issues.</a:t>
            </a:r>
            <a:endParaRPr sz="2500"/>
          </a:p>
        </p:txBody>
      </p:sp>
      <p:pic>
        <p:nvPicPr>
          <p:cNvPr id="163" name="Google Shape;163;g3516e8613c4_2_3" title="Screenshot 2025-04-28 at 6.02.1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00" y="2064125"/>
            <a:ext cx="9716428" cy="9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516e8613c4_2_3" title="Screenshot 2025-04-28 at 6.03.2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00" y="4185850"/>
            <a:ext cx="9530638" cy="9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1233950" y="946075"/>
            <a:ext cx="7187674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Conclusion</a:t>
            </a:r>
            <a:endParaRPr sz="2400"/>
          </a:p>
        </p:txBody>
      </p:sp>
      <p:sp>
        <p:nvSpPr>
          <p:cNvPr id="170" name="Google Shape;170;p24"/>
          <p:cNvSpPr txBox="1"/>
          <p:nvPr/>
        </p:nvSpPr>
        <p:spPr>
          <a:xfrm>
            <a:off x="1233950" y="1665375"/>
            <a:ext cx="10475400" cy="50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XGBoost achieved the best overall balance between accuracy and ROC AUC, making it the top-performing model. It delivered a Training Accuracy of 94.91%, Testing Accuracy of 92.36%, and ROC AUC of 74.70%.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Logistic Regression slightly exceeded in ROC AUC (75.22%) but lacked the advanced learning capacity of XGBoost.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Deep Learning (Simple Model) closely followed with a ROC AUC of 74.61%, offering faster training but lower robustness.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XGBoost handled the high-dimensional, imbalanced dataset effectively.</a:t>
            </a:r>
            <a:endParaRPr sz="1500" b="1">
              <a:solidFill>
                <a:schemeClr val="dk1"/>
              </a:solidFill>
              <a:highlight>
                <a:srgbClr val="FAFAFA"/>
              </a:highlight>
            </a:endParaRPr>
          </a:p>
          <a:p>
            <a:pPr marL="457200" lvl="0" indent="-323850" algn="l" rtl="0">
              <a:lnSpc>
                <a:spcPct val="2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highlight>
                  <a:srgbClr val="FAFAFA"/>
                </a:highlight>
              </a:rPr>
              <a:t>XGBoost with feature selection is recommended for optimal performance.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1a270af97_0_4"/>
          <p:cNvSpPr txBox="1">
            <a:spLocks noGrp="1"/>
          </p:cNvSpPr>
          <p:nvPr>
            <p:ph type="title"/>
          </p:nvPr>
        </p:nvSpPr>
        <p:spPr>
          <a:xfrm>
            <a:off x="1125550" y="818000"/>
            <a:ext cx="71877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Future Work</a:t>
            </a:r>
            <a:endParaRPr sz="2400"/>
          </a:p>
        </p:txBody>
      </p:sp>
      <p:sp>
        <p:nvSpPr>
          <p:cNvPr id="176" name="Google Shape;176;g351a270af97_0_4"/>
          <p:cNvSpPr txBox="1"/>
          <p:nvPr/>
        </p:nvSpPr>
        <p:spPr>
          <a:xfrm>
            <a:off x="1184675" y="1409250"/>
            <a:ext cx="10491600" cy="5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Model Enhancements:</a:t>
            </a:r>
            <a:br>
              <a:rPr lang="en-US" sz="1200" b="1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Apply </a:t>
            </a:r>
            <a:r>
              <a:rPr lang="en-US" sz="1200" b="1">
                <a:solidFill>
                  <a:schemeClr val="dk1"/>
                </a:solidFill>
              </a:rPr>
              <a:t>advanced deep learning architectures</a:t>
            </a:r>
            <a:r>
              <a:rPr lang="en-US" sz="1200">
                <a:solidFill>
                  <a:schemeClr val="dk1"/>
                </a:solidFill>
              </a:rPr>
              <a:t> like TabNet or autoencoders for feature extraction.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Feature Engineering: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Explore SHAP or Boruta for </a:t>
            </a:r>
            <a:r>
              <a:rPr lang="en-US" sz="1200" b="1">
                <a:solidFill>
                  <a:schemeClr val="dk1"/>
                </a:solidFill>
              </a:rPr>
              <a:t>automated feature selection</a:t>
            </a:r>
            <a:r>
              <a:rPr lang="en-US" sz="1200">
                <a:solidFill>
                  <a:schemeClr val="dk1"/>
                </a:solidFill>
              </a:rPr>
              <a:t>; add </a:t>
            </a:r>
            <a:r>
              <a:rPr lang="en-US" sz="1200" b="1">
                <a:solidFill>
                  <a:schemeClr val="dk1"/>
                </a:solidFill>
              </a:rPr>
              <a:t>time-based or interaction features</a:t>
            </a:r>
            <a:r>
              <a:rPr lang="en-US" sz="1200">
                <a:solidFill>
                  <a:schemeClr val="dk1"/>
                </a:solidFill>
              </a:rPr>
              <a:t> to boost predictive power.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Dimensionality Reduction: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Implement </a:t>
            </a:r>
            <a:r>
              <a:rPr lang="en-US" sz="1200" b="1">
                <a:solidFill>
                  <a:schemeClr val="dk1"/>
                </a:solidFill>
              </a:rPr>
              <a:t>PCA or t-SNE</a:t>
            </a:r>
            <a:r>
              <a:rPr lang="en-US" sz="1200">
                <a:solidFill>
                  <a:schemeClr val="dk1"/>
                </a:solidFill>
              </a:rPr>
              <a:t> for reducing multicollinearity and visualizing high-dimensional data.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Hyperparameter Optimization: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Use </a:t>
            </a:r>
            <a:r>
              <a:rPr lang="en-US" sz="1200" b="1">
                <a:solidFill>
                  <a:schemeClr val="dk1"/>
                </a:solidFill>
              </a:rPr>
              <a:t>Bayesian Optimization</a:t>
            </a:r>
            <a:r>
              <a:rPr lang="en-US" sz="1200">
                <a:solidFill>
                  <a:schemeClr val="dk1"/>
                </a:solidFill>
              </a:rPr>
              <a:t> (e.g., Optuna or Hyperopt) for more efficient tuning.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Model Interpretability: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Leverage </a:t>
            </a:r>
            <a:r>
              <a:rPr lang="en-US" sz="1200" b="1">
                <a:solidFill>
                  <a:schemeClr val="dk1"/>
                </a:solidFill>
              </a:rPr>
              <a:t>SHAP values</a:t>
            </a:r>
            <a:r>
              <a:rPr lang="en-US" sz="1200">
                <a:solidFill>
                  <a:schemeClr val="dk1"/>
                </a:solidFill>
              </a:rPr>
              <a:t> to explain predictions and support business decisions.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Production Readiness: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Build an </a:t>
            </a:r>
            <a:r>
              <a:rPr lang="en-US" sz="1200" b="1">
                <a:solidFill>
                  <a:schemeClr val="dk1"/>
                </a:solidFill>
              </a:rPr>
              <a:t>end-to-end pipeline</a:t>
            </a:r>
            <a:r>
              <a:rPr lang="en-US" sz="1200">
                <a:solidFill>
                  <a:schemeClr val="dk1"/>
                </a:solidFill>
              </a:rPr>
              <a:t> for real-time prediction using tools like </a:t>
            </a:r>
            <a:r>
              <a:rPr lang="en-US" sz="1200" b="1">
                <a:solidFill>
                  <a:schemeClr val="dk1"/>
                </a:solidFill>
              </a:rPr>
              <a:t>MLflow</a:t>
            </a:r>
            <a:r>
              <a:rPr lang="en-US" sz="1200">
                <a:solidFill>
                  <a:schemeClr val="dk1"/>
                </a:solidFill>
              </a:rPr>
              <a:t> or </a:t>
            </a:r>
            <a:r>
              <a:rPr lang="en-US" sz="1200" b="1">
                <a:solidFill>
                  <a:schemeClr val="dk1"/>
                </a:solidFill>
              </a:rPr>
              <a:t>FastAPI</a:t>
            </a:r>
            <a:r>
              <a:rPr lang="en-US" sz="1200">
                <a:solidFill>
                  <a:schemeClr val="dk1"/>
                </a:solidFill>
              </a:rPr>
              <a:t>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Deploy the model in a </a:t>
            </a:r>
            <a:r>
              <a:rPr lang="en-US" sz="1200" b="1">
                <a:solidFill>
                  <a:schemeClr val="dk1"/>
                </a:solidFill>
              </a:rPr>
              <a:t>cloud environment</a:t>
            </a:r>
            <a:r>
              <a:rPr lang="en-US" sz="1200">
                <a:solidFill>
                  <a:schemeClr val="dk1"/>
                </a:solidFill>
              </a:rPr>
              <a:t> for scalability (e.g., AWS SageMaker, GCP AI Platform).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200" b="1">
                <a:solidFill>
                  <a:schemeClr val="dk1"/>
                </a:solidFill>
              </a:rPr>
              <a:t>Data Augmentation &amp; Enrichment:</a:t>
            </a:r>
            <a:br>
              <a:rPr lang="en-US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Explore external data sources (e.g., credit bureau data, macroeconomic indicators).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</a:rPr>
              <a:t>Use </a:t>
            </a:r>
            <a:r>
              <a:rPr lang="en-US" sz="1200" b="1">
                <a:solidFill>
                  <a:schemeClr val="dk1"/>
                </a:solidFill>
              </a:rPr>
              <a:t>SMOTE</a:t>
            </a:r>
            <a:r>
              <a:rPr lang="en-US" sz="1200">
                <a:solidFill>
                  <a:schemeClr val="dk1"/>
                </a:solidFill>
              </a:rPr>
              <a:t> or other oversampling methods to improve class balance.</a:t>
            </a:r>
            <a:endParaRPr sz="1200">
              <a:solidFill>
                <a:schemeClr val="dk1"/>
              </a:solidFill>
              <a:highlight>
                <a:srgbClr val="FAFAFA"/>
              </a:highlight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f096a47b2_0_0"/>
          <p:cNvSpPr txBox="1">
            <a:spLocks noGrp="1"/>
          </p:cNvSpPr>
          <p:nvPr>
            <p:ph type="body" idx="1"/>
          </p:nvPr>
        </p:nvSpPr>
        <p:spPr>
          <a:xfrm>
            <a:off x="4164155" y="2379868"/>
            <a:ext cx="2477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300">
                <a:latin typeface="Lobster"/>
                <a:ea typeface="Lobster"/>
                <a:cs typeface="Lobster"/>
                <a:sym typeface="Lobster"/>
              </a:rPr>
              <a:t>Thank you </a:t>
            </a:r>
            <a:endParaRPr sz="4300"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Office PowerPoint</Application>
  <PresentationFormat>Widescreen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Palatino Linotype</vt:lpstr>
      <vt:lpstr>Calibri</vt:lpstr>
      <vt:lpstr>Arial</vt:lpstr>
      <vt:lpstr>Lobster</vt:lpstr>
      <vt:lpstr>Franklin Gothic</vt:lpstr>
      <vt:lpstr>Office Theme</vt:lpstr>
      <vt:lpstr>High Credit Default Risk (HCDR)</vt:lpstr>
      <vt:lpstr>Team Credit Finders</vt:lpstr>
      <vt:lpstr>Project Description</vt:lpstr>
      <vt:lpstr>EDA</vt:lpstr>
      <vt:lpstr>Feature Engineering, Transformation, Selection and Pre-processing</vt:lpstr>
      <vt:lpstr>Modeling Pipeline</vt:lpstr>
      <vt:lpstr>Experimental Results for ML -Ensemble of Models</vt:lpstr>
      <vt:lpstr>Experimental Results for Deep Learning 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Archana Krishnamurthy (TMNA)</dc:creator>
  <cp:lastModifiedBy>Rajeev Govindan</cp:lastModifiedBy>
  <cp:revision>1</cp:revision>
  <dcterms:created xsi:type="dcterms:W3CDTF">2020-05-09T02:20:53Z</dcterms:created>
  <dcterms:modified xsi:type="dcterms:W3CDTF">2025-04-30T00:37:38Z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1b518dda-a072-40f6-b897-604cd2a063c5</vt:lpwstr>
  </property>
  <property fmtid="{D5CDD505-2E9C-101B-9397-08002B2CF9AE}" pid="3" name="ToyotaClassification">
    <vt:lpwstr>PUBLIC</vt:lpwstr>
  </property>
  <property fmtid="{D5CDD505-2E9C-101B-9397-08002B2CF9AE}" pid="4" name="ToyotaVisualMarkings">
    <vt:lpwstr>No Label</vt:lpwstr>
  </property>
</Properties>
</file>